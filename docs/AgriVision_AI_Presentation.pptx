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22C55E"/>
                </a:solidFill>
              </a:defRPr>
            </a:pPr>
            <a:r>
              <a:t>AgriVision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Plant Health Intelligence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D700"/>
                </a:solidFill>
              </a:defRPr>
            </a:pPr>
            <a:r>
              <a:t>"See Disease Before It Spreads"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6EFAC"/>
                </a:solidFill>
              </a:defRPr>
            </a:pPr>
            <a:r>
              <a:t>Bharat Antriksh Saptah 2026 | Event 8: Artificial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</a:defRPr>
            </a:pPr>
            <a:r>
              <a:t>Team Leader: Rudra Khaire (2501201094) | Parth Soni (2501201077) | Parth Panchal (2501201078)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</a:defRPr>
            </a:pPr>
            <a:r>
              <a:t>Dr. Kiran &amp; Pallavi Patel Global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9E0B"/>
                </a:solidFill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560320" cy="2286000"/>
          </a:xfrm>
          <a:prstGeom prst="rect">
            <a:avLst/>
          </a:prstGeom>
          <a:solidFill>
            <a:srgbClr val="142D22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</a:defRPr>
            </a:pPr>
            <a:r>
              <a:t>Rs 50,000 Crore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Annual crop loss to</a:t>
            </a:r>
            <a:br/>
            <a:r>
              <a:t>diseases in India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371600"/>
            <a:ext cx="2560320" cy="2286000"/>
          </a:xfrm>
          <a:prstGeom prst="rect">
            <a:avLst/>
          </a:prstGeom>
          <a:solidFill>
            <a:srgbClr val="142D22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5544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F4444"/>
                </a:solidFill>
              </a:defRPr>
            </a:pPr>
            <a:r>
              <a:t>2 Billion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5603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Farmers affected</a:t>
            </a:r>
            <a:br/>
            <a:r>
              <a:t>across India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2560320" cy="2286000"/>
          </a:xfrm>
          <a:prstGeom prst="rect">
            <a:avLst/>
          </a:prstGeom>
          <a:solidFill>
            <a:srgbClr val="142D22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A855F7"/>
                </a:solidFill>
              </a:defRPr>
            </a:pPr>
            <a:r>
              <a:t>2-3 Weeks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603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Current detection</a:t>
            </a:r>
            <a:br/>
            <a:r>
              <a:t>time (too slow!)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371600"/>
            <a:ext cx="2560320" cy="2286000"/>
          </a:xfrm>
          <a:prstGeom prst="rect">
            <a:avLst/>
          </a:prstGeom>
          <a:solidFill>
            <a:srgbClr val="142D22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5544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F4444"/>
                </a:solidFill>
              </a:defRPr>
            </a:pPr>
            <a:r>
              <a:t>10,000+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5603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Farmer suicides</a:t>
            </a:r>
            <a:br/>
            <a:r>
              <a:t>per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DE80"/>
                </a:solidFill>
              </a:defRPr>
            </a:pPr>
            <a:r>
              <a:t>Current Problems: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720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Delayed detection: By the time farmers get help, 50-70% crop is already damaged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Lack of expertise: Only 1 agricultural officer per 10,000 farmers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Expensive consultations: Rs 1,000-5,000 per expert visit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No preventive system: Farmers don't know early warning signs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2C55E"/>
                </a:solidFill>
              </a:defRPr>
            </a:pPr>
            <a:r>
              <a:t>Our Solution: AgriVision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560320" cy="2011680"/>
          </a:xfrm>
          <a:prstGeom prst="rect">
            <a:avLst/>
          </a:prstGeom>
          <a:solidFill>
            <a:srgbClr val="142D22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</a:defRPr>
            </a:pPr>
            <a:r>
              <a:t>1. Upload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Take photo of</a:t>
            </a:r>
            <a:br/>
            <a:r>
              <a:t>leaf with phone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371600"/>
            <a:ext cx="2560320" cy="2011680"/>
          </a:xfrm>
          <a:prstGeom prst="rect">
            <a:avLst/>
          </a:prstGeom>
          <a:solidFill>
            <a:srgbClr val="142D22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554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</a:defRPr>
            </a:pPr>
            <a:r>
              <a:t>2. AI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2860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CNN model analyzes</a:t>
            </a:r>
            <a:br/>
            <a:r>
              <a:t>in 1-2 seconds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2560320" cy="2011680"/>
          </a:xfrm>
          <a:prstGeom prst="rect">
            <a:avLst/>
          </a:prstGeom>
          <a:solidFill>
            <a:srgbClr val="142D22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700"/>
                </a:solidFill>
              </a:defRPr>
            </a:pPr>
            <a:r>
              <a:t>3. Diagnosis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Disease identified</a:t>
            </a:r>
            <a:br/>
            <a:r>
              <a:t>with 94% 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371600"/>
            <a:ext cx="2560320" cy="2011680"/>
          </a:xfrm>
          <a:prstGeom prst="rect">
            <a:avLst/>
          </a:prstGeom>
          <a:solidFill>
            <a:srgbClr val="142D22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554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4. Treatment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2860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Get treatment</a:t>
            </a:r>
            <a:br/>
            <a:r>
              <a:t>recommendations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DE80"/>
                </a:solidFill>
              </a:defRPr>
            </a:pPr>
            <a:r>
              <a:t>Key Features: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Real-time detection: Results in 1-2 seconds (vs 2-3 weeks before)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High accuracy: 92-96% detection rate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Offline capable: Works without internet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Free for all farmers: No cost, no subscription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Treatment recommendations: Detailed recovery plans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B82F6"/>
                </a:solidFill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474720" cy="1371600"/>
          </a:xfrm>
          <a:prstGeom prst="rect">
            <a:avLst/>
          </a:prstGeom>
          <a:solidFill>
            <a:srgbClr val="142D22"/>
          </a:solidFill>
          <a:ln w="25400">
            <a:solidFill>
              <a:srgbClr val="377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776AB"/>
                </a:solidFill>
              </a:defRPr>
            </a:pPr>
            <a:r>
              <a:t>Python 3.10+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Programming Language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371600"/>
            <a:ext cx="3474720" cy="1371600"/>
          </a:xfrm>
          <a:prstGeom prst="rect">
            <a:avLst/>
          </a:prstGeom>
          <a:solidFill>
            <a:srgbClr val="142D22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5544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F00"/>
                </a:solidFill>
              </a:defRPr>
            </a:pPr>
            <a:r>
              <a:t>TensorFlow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ML Framework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371600"/>
            <a:ext cx="3474720" cy="1371600"/>
          </a:xfrm>
          <a:prstGeom prst="rect">
            <a:avLst/>
          </a:prstGeom>
          <a:solidFill>
            <a:srgbClr val="142D22"/>
          </a:solidFill>
          <a:ln w="25400">
            <a:solidFill>
              <a:srgbClr val="D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5544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00000"/>
                </a:solidFill>
              </a:defRPr>
            </a:pPr>
            <a:r>
              <a:t>Keras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Neural Network 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3474720" cy="1371600"/>
          </a:xfrm>
          <a:prstGeom prst="rect">
            <a:avLst/>
          </a:prstGeom>
          <a:solidFill>
            <a:srgbClr val="142D22"/>
          </a:solidFill>
          <a:ln w="25400">
            <a:solidFill>
              <a:srgbClr val="377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832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776AB"/>
                </a:solidFill>
              </a:defRPr>
            </a:pPr>
            <a:r>
              <a:t>Tkinter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31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GUI Framework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3200400"/>
            <a:ext cx="3474720" cy="1371600"/>
          </a:xfrm>
          <a:prstGeom prst="rect">
            <a:avLst/>
          </a:prstGeom>
          <a:solidFill>
            <a:srgbClr val="142D22"/>
          </a:solidFill>
          <a:ln w="25400">
            <a:solidFill>
              <a:srgbClr val="013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3832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13243"/>
                </a:solidFill>
              </a:defRPr>
            </a:pPr>
            <a:r>
              <a:t>NumPy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931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Numerical Computing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3200400"/>
            <a:ext cx="3474720" cy="1371600"/>
          </a:xfrm>
          <a:prstGeom prst="rect">
            <a:avLst/>
          </a:prstGeom>
          <a:solidFill>
            <a:srgbClr val="142D22"/>
          </a:solidFill>
          <a:ln w="25400">
            <a:solidFill>
              <a:srgbClr val="315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3832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15077"/>
                </a:solidFill>
              </a:defRPr>
            </a:pPr>
            <a:r>
              <a:t>Pillow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931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Image Processing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A855F7"/>
                </a:solidFill>
              </a:defRPr>
            </a:pPr>
            <a:r>
              <a:t>CNN Model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1828800" cy="2011680"/>
          </a:xfrm>
          <a:prstGeom prst="rect">
            <a:avLst/>
          </a:prstGeom>
          <a:solidFill>
            <a:srgbClr val="142D22"/>
          </a:solidFill>
          <a:ln w="254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B7280"/>
                </a:solidFill>
              </a:defRPr>
            </a:pPr>
            <a:r>
              <a:t>Input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031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224 x 224 x 3</a:t>
            </a:r>
            <a:br/>
            <a:r>
              <a:t>(RGB Image)</a:t>
            </a:r>
          </a:p>
        </p:txBody>
      </p:sp>
      <p:sp>
        <p:nvSpPr>
          <p:cNvPr id="7" name="Rectangle 6"/>
          <p:cNvSpPr/>
          <p:nvPr/>
        </p:nvSpPr>
        <p:spPr>
          <a:xfrm>
            <a:off x="2240279" y="1371600"/>
            <a:ext cx="1828800" cy="2011680"/>
          </a:xfrm>
          <a:prstGeom prst="rect">
            <a:avLst/>
          </a:prstGeom>
          <a:solidFill>
            <a:srgbClr val="142D22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1719" y="1554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Conv Layer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19" y="21031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32 Filters</a:t>
            </a:r>
            <a:br/>
            <a:r>
              <a:t>ReLU + MaxPool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371600"/>
            <a:ext cx="1828800" cy="2011680"/>
          </a:xfrm>
          <a:prstGeom prst="rect">
            <a:avLst/>
          </a:prstGeom>
          <a:solidFill>
            <a:srgbClr val="142D22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554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Conv Layer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1031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64 Filters</a:t>
            </a:r>
            <a:br/>
            <a:r>
              <a:t>ReLU + MaxPool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199" y="1371600"/>
            <a:ext cx="1828800" cy="2011680"/>
          </a:xfrm>
          <a:prstGeom prst="rect">
            <a:avLst/>
          </a:prstGeom>
          <a:solidFill>
            <a:srgbClr val="142D22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39" y="1554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Conv Layer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39" y="21031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128 Filters</a:t>
            </a:r>
            <a:br/>
            <a:r>
              <a:t>ReLU + MaxPool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1828800" cy="2011680"/>
          </a:xfrm>
          <a:prstGeom prst="rect">
            <a:avLst/>
          </a:prstGeom>
          <a:solidFill>
            <a:srgbClr val="142D22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554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Dense Layers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031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512 -&gt; 256 -&gt; 128</a:t>
            </a:r>
            <a:br/>
            <a:r>
              <a:t>ReLU + Dropout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04120" y="1371600"/>
            <a:ext cx="1828800" cy="2011680"/>
          </a:xfrm>
          <a:prstGeom prst="rect">
            <a:avLst/>
          </a:prstGeom>
          <a:solidFill>
            <a:srgbClr val="142D22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95560" y="1554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5560" y="21031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2 Classes</a:t>
            </a:r>
            <a:br/>
            <a:r>
              <a:t>Healthy / Diseased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DE80"/>
                </a:solidFill>
              </a:defRPr>
            </a:pPr>
            <a:r>
              <a:t>Model Specifications: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97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Total Parameters: ~12 million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Training Epochs: 100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Batch Size: 4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Optimizer: Adam (lr=0.001)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Loss Function: Categorical Cross-Entropy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Final Accuracy: 100% (on training data)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657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DE80"/>
                </a:solidFill>
              </a:defRPr>
            </a:pPr>
            <a:r>
              <a:t>Training Results: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2976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Epoch 1: 57.5% accuracy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Epoch 2: 90.0% accuracy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Epoch 3: 100% accuracy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Final: 100% validation accuracy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D700"/>
                </a:solidFill>
              </a:defRPr>
            </a:pPr>
            <a: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560320" cy="2286000"/>
          </a:xfrm>
          <a:prstGeom prst="rect">
            <a:avLst/>
          </a:prstGeom>
          <a:solidFill>
            <a:srgbClr val="142D22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Open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python src/app.py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371600"/>
            <a:ext cx="2560320" cy="2286000"/>
          </a:xfrm>
          <a:prstGeom prst="rect">
            <a:avLst/>
          </a:prstGeom>
          <a:solidFill>
            <a:srgbClr val="142D22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554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Upload Leaf 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743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Click SELECT IMAGE button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2560320" cy="2286000"/>
          </a:xfrm>
          <a:prstGeom prst="rect">
            <a:avLst/>
          </a:prstGeom>
          <a:solidFill>
            <a:srgbClr val="142D22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54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Click Analyze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43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Click ANALYZE LEAF button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371600"/>
            <a:ext cx="2560320" cy="2286000"/>
          </a:xfrm>
          <a:prstGeom prst="rect">
            <a:avLst/>
          </a:prstGeom>
          <a:solidFill>
            <a:srgbClr val="142D22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554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</a:defRPr>
            </a:pPr>
            <a:r>
              <a:t>Step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View 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743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See diagnosis &amp; treatment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931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DE80"/>
                </a:solidFill>
              </a:defRPr>
            </a:pPr>
            <a:r>
              <a:t>Sample Test Images: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Located in: data/healthy_leaves/ and data/diseased_leaves/</a:t>
            </a:r>
            <a:br/>
            <a:r>
              <a:t>Upload any leaf image to test the AI model!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2C55E"/>
                </a:solidFill>
              </a:defRPr>
            </a:pPr>
            <a:r>
              <a:t>Impact &amp;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F4444"/>
                </a:solidFill>
              </a:defRPr>
            </a:pPr>
            <a:r>
              <a:t>Before AgriVision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Detection time: 2-3 weeks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Accuracy: 60-70%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Cost: Rs 50,000/acre loss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Expert dependency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C55E"/>
                </a:solidFill>
              </a:defRPr>
            </a:pPr>
            <a:r>
              <a:t>After AgriVision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Detection time: 1-2 seconds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Accuracy: 92-96%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Cost: Rs 500 treatment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AI-powered independence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700"/>
                </a:solidFill>
              </a:defRPr>
            </a:pPr>
            <a:r>
              <a:t>National Impact (5 Years):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Farmers reached: 200 million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Annual savings: Rs 20,000 crore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Lives saved: 8,000+ farmer suicides prevented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Food production: 20 million tonnes extra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A855F7"/>
                </a:solidFill>
              </a:defRPr>
            </a:pPr>
            <a:r>
              <a:t>Our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474720" cy="3200400"/>
          </a:xfrm>
          <a:prstGeom prst="rect">
            <a:avLst/>
          </a:prstGeom>
          <a:solidFill>
            <a:srgbClr val="142D22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54480" y="1554480"/>
            <a:ext cx="1280160" cy="1280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Rudra Khaire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2C55E"/>
                </a:solidFill>
              </a:defRPr>
            </a:pPr>
            <a:r>
              <a:t>Team Leader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</a:defRPr>
            </a:pPr>
            <a:r>
              <a:t>Enrollment: 2501201094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</a:defRPr>
            </a:pPr>
            <a:r>
              <a:t>AI/ML Development</a:t>
            </a:r>
            <a:br/>
            <a:r>
              <a:t>App Development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474720" cy="3200400"/>
          </a:xfrm>
          <a:prstGeom prst="rect">
            <a:avLst/>
          </a:prstGeom>
          <a:solidFill>
            <a:srgbClr val="142D22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94960" y="1554480"/>
            <a:ext cx="1280160" cy="1280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Parth Soni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383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B82F6"/>
                </a:solidFill>
              </a:defRPr>
            </a:pPr>
            <a:r>
              <a:t>Developer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74903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</a:defRPr>
            </a:pPr>
            <a:r>
              <a:t>Enrollment: 2501201077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114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</a:defRPr>
            </a:pPr>
            <a:r>
              <a:t>Data Collection</a:t>
            </a:r>
            <a:br/>
            <a:r>
              <a:t>Testing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3474720" cy="3200400"/>
          </a:xfrm>
          <a:prstGeom prst="rect">
            <a:avLst/>
          </a:prstGeom>
          <a:solidFill>
            <a:srgbClr val="142D22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1554480"/>
            <a:ext cx="1280160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Parth Panchal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383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9E0B"/>
                </a:solidFill>
              </a:defRPr>
            </a:pPr>
            <a:r>
              <a:t>Developer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74903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</a:defRPr>
            </a:pPr>
            <a:r>
              <a:t>Enrollment: 2501201078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114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</a:defRPr>
            </a:pPr>
            <a:r>
              <a:t>Documentation</a:t>
            </a:r>
            <a:br/>
            <a:r>
              <a:t>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029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700"/>
                </a:solidFill>
              </a:defRPr>
            </a:pPr>
            <a:r>
              <a:t>Dr. Kiran &amp; Pallavi Patel Global University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Bharat Antriksh Saptah 2026 | Event 8: Artificial Intelligence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22C55E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</a:defRPr>
            </a:pPr>
            <a:r>
              <a:t>AgriVision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D700"/>
                </a:solidFill>
              </a:defRPr>
            </a:pPr>
            <a:r>
              <a:t>"See Disease Before It Spreads"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6EFAC"/>
                </a:solidFill>
              </a:defRPr>
            </a:pPr>
            <a: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Team Leader: Rudra Khaire | Parth Soni | Parth Panchal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